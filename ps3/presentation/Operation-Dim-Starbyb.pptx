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clusive Sans"/>
      <p:regular r:id="rId201314"/>
    </p:embeddedFont>
    <p:embeddedFont>
      <p:font typeface="Inclusive Sans Medium"/>
      <p:regular r:id="rId201315"/>
    </p:embeddedFont>
    <p:embeddedFont>
      <p:font typeface="Inclusive Sans SemiBold"/>
      <p:regular r:id="rId201316"/>
    </p:embeddedFont>
    <p:embeddedFont>
      <p:font typeface="Inclusive Sans Bold"/>
      <p:regular r:id="rId201317"/>
    </p:embeddedFont>
    <p:embeddedFont>
      <p:font typeface="Signika SemiBold"/>
      <p:regular r:id="rId201318"/>
    </p:embeddedFont>
    <p:embeddedFont>
      <p:font typeface="Signika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4-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5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87" y="558800"/>
            <a:ext cx="7746806" cy="3377406"/>
          </a:xfrm>
          <a:prstGeom prst="rect">
            <a:avLst/>
          </a:prstGeom>
          <a:solidFill>
            <a:srgbClr val="151B3D"/>
          </a:solidFill>
          <a:ln/>
        </p:spPr>
      </p:sp>
      <p:sp>
        <p:nvSpPr>
          <p:cNvPr id="3" name="Text 1"/>
          <p:cNvSpPr/>
          <p:nvPr/>
        </p:nvSpPr>
        <p:spPr>
          <a:xfrm>
            <a:off x="2158946" y="922338"/>
            <a:ext cx="5714857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b="1" spc="-96" kern="100" dirty="0">
                <a:solidFill>
                  <a:srgbClr val="FFFFFF"/>
                </a:solidFill>
                <a:latin typeface="Signika Bold" pitchFamily="34" charset="0"/>
                <a:ea typeface="Signika Bold" pitchFamily="34" charset="-122"/>
                <a:cs typeface="Signika Bold" pitchFamily="34" charset="0"/>
              </a:rPr>
              <a:t>Operation Dim Star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158946" y="2717483"/>
            <a:ext cx="5714857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Finding planets in the starlight of STAC-1, STAC-2 and STAC-3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7380" y="812800"/>
            <a:ext cx="1168371" cy="1168400"/>
          </a:xfrm>
          <a:prstGeom prst="ellipse">
            <a:avLst/>
          </a:prstGeom>
          <a:solidFill>
            <a:srgbClr val="F4C24F"/>
          </a:solidFill>
          <a:ln/>
        </p:spPr>
      </p:sp>
      <p:sp>
        <p:nvSpPr>
          <p:cNvPr id="6" name="Text 4"/>
          <p:cNvSpPr/>
          <p:nvPr/>
        </p:nvSpPr>
        <p:spPr>
          <a:xfrm>
            <a:off x="552436" y="1214100"/>
            <a:ext cx="1638259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1829" y="4962525"/>
            <a:ext cx="834369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8BCDD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Team milkymeda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685782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B8BCDD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THE SIGNAL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189" y="845423"/>
            <a:ext cx="6400640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How a tiny dip reveals a planet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588" y="1529556"/>
            <a:ext cx="6349841" cy="2649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07029" y="1650205"/>
            <a:ext cx="2475884" cy="233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spc="-1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Transit Dip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07029" y="1953084"/>
            <a:ext cx="2475884" cy="311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Star brightness drops slightly as planet passes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2" y="2920192"/>
            <a:ext cx="234942" cy="2349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7029" y="2513796"/>
            <a:ext cx="2475884" cy="233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spc="-1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Periodic Pattern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207029" y="2816675"/>
            <a:ext cx="2475884" cy="15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Repeated dips at fixed intervals reveal orbit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275" y="2920192"/>
            <a:ext cx="234942" cy="2349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7029" y="3402787"/>
            <a:ext cx="2475884" cy="233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spc="-1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Signal Analysis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207029" y="3705666"/>
            <a:ext cx="2475884" cy="311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Measure size, orbit and prioritize best targets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199" y="2920192"/>
            <a:ext cx="234942" cy="234947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252D63"/>
          </a:solidFill>
          <a:ln/>
        </p:spPr>
      </p:sp>
      <p:sp>
        <p:nvSpPr>
          <p:cNvPr id="15" name="Text 9"/>
          <p:cNvSpPr/>
          <p:nvPr/>
        </p:nvSpPr>
        <p:spPr>
          <a:xfrm>
            <a:off x="7772206" y="1227336"/>
            <a:ext cx="3962301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Transit depth</a:t>
            </a:r>
            <a:endParaRPr lang="en-US" sz="3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206" y="1859161"/>
            <a:ext cx="3962301" cy="9903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72206" y="3058378"/>
            <a:ext cx="3962301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Repeated dips at a fixed interval are the clue; flares brighten and starspots change more slowly.</a:t>
            </a:r>
            <a:endParaRPr lang="en-US" sz="2200" dirty="0"/>
          </a:p>
        </p:txBody>
      </p:sp>
      <p:sp>
        <p:nvSpPr>
          <p:cNvPr id="18" name="Shape 11"/>
          <p:cNvSpPr/>
          <p:nvPr/>
        </p:nvSpPr>
        <p:spPr>
          <a:xfrm>
            <a:off x="7772206" y="4764385"/>
            <a:ext cx="1205775" cy="368002"/>
          </a:xfrm>
          <a:prstGeom prst="roundRect">
            <a:avLst>
              <a:gd name="adj" fmla="val 3106"/>
            </a:avLst>
          </a:prstGeom>
          <a:solidFill>
            <a:srgbClr val="483405"/>
          </a:solidFill>
          <a:ln/>
        </p:spPr>
      </p:sp>
      <p:sp>
        <p:nvSpPr>
          <p:cNvPr id="19" name="Text 12"/>
          <p:cNvSpPr/>
          <p:nvPr/>
        </p:nvSpPr>
        <p:spPr>
          <a:xfrm>
            <a:off x="7914680" y="4817978"/>
            <a:ext cx="1530411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50" spc="56" kern="1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DETECT</a:t>
            </a:r>
            <a:endParaRPr lang="en-US" sz="1850" dirty="0"/>
          </a:p>
        </p:txBody>
      </p:sp>
      <p:sp>
        <p:nvSpPr>
          <p:cNvPr id="20" name="Shape 13"/>
          <p:cNvSpPr/>
          <p:nvPr/>
        </p:nvSpPr>
        <p:spPr>
          <a:xfrm>
            <a:off x="9117677" y="4764385"/>
            <a:ext cx="847505" cy="368002"/>
          </a:xfrm>
          <a:prstGeom prst="roundRect">
            <a:avLst>
              <a:gd name="adj" fmla="val 3106"/>
            </a:avLst>
          </a:prstGeom>
          <a:solidFill>
            <a:srgbClr val="483405"/>
          </a:solidFill>
          <a:ln/>
        </p:spPr>
      </p:sp>
      <p:sp>
        <p:nvSpPr>
          <p:cNvPr id="21" name="Text 14"/>
          <p:cNvSpPr/>
          <p:nvPr/>
        </p:nvSpPr>
        <p:spPr>
          <a:xfrm>
            <a:off x="9260152" y="4817978"/>
            <a:ext cx="1172141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50" spc="56" kern="1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SIZE</a:t>
            </a:r>
            <a:endParaRPr lang="en-US" sz="1850" dirty="0"/>
          </a:p>
        </p:txBody>
      </p:sp>
      <p:sp>
        <p:nvSpPr>
          <p:cNvPr id="22" name="Shape 15"/>
          <p:cNvSpPr/>
          <p:nvPr/>
        </p:nvSpPr>
        <p:spPr>
          <a:xfrm>
            <a:off x="10104879" y="4764385"/>
            <a:ext cx="1084930" cy="368002"/>
          </a:xfrm>
          <a:prstGeom prst="roundRect">
            <a:avLst>
              <a:gd name="adj" fmla="val 3106"/>
            </a:avLst>
          </a:prstGeom>
          <a:solidFill>
            <a:srgbClr val="483405"/>
          </a:solidFill>
          <a:ln/>
        </p:spPr>
      </p:sp>
      <p:sp>
        <p:nvSpPr>
          <p:cNvPr id="23" name="Text 16"/>
          <p:cNvSpPr/>
          <p:nvPr/>
        </p:nvSpPr>
        <p:spPr>
          <a:xfrm>
            <a:off x="10247354" y="4817978"/>
            <a:ext cx="1409566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50" spc="56" kern="1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ORBIT</a:t>
            </a:r>
            <a:endParaRPr lang="en-US" sz="1850" dirty="0"/>
          </a:p>
        </p:txBody>
      </p:sp>
      <p:sp>
        <p:nvSpPr>
          <p:cNvPr id="24" name="Shape 17"/>
          <p:cNvSpPr/>
          <p:nvPr/>
        </p:nvSpPr>
        <p:spPr>
          <a:xfrm>
            <a:off x="7772206" y="5272088"/>
            <a:ext cx="1304793" cy="368002"/>
          </a:xfrm>
          <a:prstGeom prst="roundRect">
            <a:avLst>
              <a:gd name="adj" fmla="val 3106"/>
            </a:avLst>
          </a:prstGeom>
          <a:solidFill>
            <a:srgbClr val="483405"/>
          </a:solidFill>
          <a:ln/>
        </p:spPr>
      </p:sp>
      <p:sp>
        <p:nvSpPr>
          <p:cNvPr id="25" name="Text 18"/>
          <p:cNvSpPr/>
          <p:nvPr/>
        </p:nvSpPr>
        <p:spPr>
          <a:xfrm>
            <a:off x="7914680" y="5325680"/>
            <a:ext cx="1629429" cy="27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50" spc="56" kern="1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CHOOSE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72642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B8BCDD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STAC-1 b · FIVE OBSERVATIONS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189" y="845423"/>
            <a:ext cx="6807030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Five dips, one 4.2-day rhythm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311102"/>
            <a:ext cx="6807030" cy="3104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252D6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595" y="535087"/>
            <a:ext cx="1650959" cy="165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78595" y="2582962"/>
            <a:ext cx="3555911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Period fit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8178595" y="3173512"/>
            <a:ext cx="3555911" cy="208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550"/>
              </a:spcAft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Dips to 0.9970 on days 3, 8, 12, 16, 20; δ = 0.0030.</a:t>
            </a:r>
            <a:endParaRPr lang="en-US" sz="22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Fit: t = t0 + nP gives P = 42/10 = 4.2 days and t0 = 3.4 d.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178595" y="5475089"/>
            <a:ext cx="355591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Predicted: 3.4, 7.6, 11.8, 16.0, 20.2 d, matching the observations when rounded.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252D63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1695827"/>
            <a:ext cx="274313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F4ECD6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STAC-2 b · LONG BASELINE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81" y="2435126"/>
            <a:ext cx="2158946" cy="215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2053" y="4803041"/>
            <a:ext cx="1873302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2200" b="1" dirty="0">
                <a:solidFill>
                  <a:srgbClr val="F4ECD6"/>
                </a:solidFill>
                <a:latin typeface="Inclusive Sans Bold" pitchFamily="34" charset="0"/>
                <a:ea typeface="Inclusive Sans Bold" pitchFamily="34" charset="-122"/>
                <a:cs typeface="Inclusive Sans Bold" pitchFamily="34" charset="0"/>
              </a:rPr>
              <a:t>STAC-2 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697" y="469583"/>
            <a:ext cx="807699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B8BCDD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THREE DIPS · 80 DAYS APART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14697" y="845423"/>
            <a:ext cx="7619809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An 80-day signal</a:t>
            </a:r>
            <a:endParaRPr lang="en-US" sz="3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697" y="1529556"/>
            <a:ext cx="7619809" cy="20893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697" y="3827820"/>
            <a:ext cx="7619809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Dips to 0.9990 on days 20, 100, 180. Spacing is 80 d, so P = 80 days and δ = 0.0010.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114697" y="4779566"/>
            <a:ext cx="7619809" cy="1452761"/>
          </a:xfrm>
          <a:prstGeom prst="roundRect">
            <a:avLst>
              <a:gd name="adj" fmla="val 787"/>
            </a:avLst>
          </a:prstGeom>
          <a:solidFill>
            <a:srgbClr val="785608"/>
          </a:solidFill>
          <a:ln/>
        </p:spPr>
      </p:sp>
      <p:sp>
        <p:nvSpPr>
          <p:cNvPr id="11" name="Text 7"/>
          <p:cNvSpPr/>
          <p:nvPr/>
        </p:nvSpPr>
        <p:spPr>
          <a:xfrm>
            <a:off x="4394090" y="5134531"/>
            <a:ext cx="706102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With 20-day sampling, a 26.7-day period could also fit; 40 d cannot.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2901"/>
          </a:xfrm>
          <a:prstGeom prst="rect">
            <a:avLst/>
          </a:prstGeom>
          <a:solidFill>
            <a:srgbClr val="15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6968" cy="1142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9" y="1612483"/>
            <a:ext cx="117345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B8BCDD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STAC-3 b · PATTERN + ANOMALY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189" y="1988324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A 40-day pattern with one mystery</a:t>
            </a:r>
            <a:endParaRPr lang="en-US" sz="3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2923282"/>
            <a:ext cx="6583495" cy="234324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45377" y="2694682"/>
            <a:ext cx="4389129" cy="3752552"/>
          </a:xfrm>
          <a:prstGeom prst="rect">
            <a:avLst/>
          </a:prstGeom>
          <a:solidFill>
            <a:srgbClr val="252D63"/>
          </a:solidFill>
          <a:ln/>
        </p:spPr>
      </p:sp>
      <p:sp>
        <p:nvSpPr>
          <p:cNvPr id="8" name="Text 4"/>
          <p:cNvSpPr/>
          <p:nvPr/>
        </p:nvSpPr>
        <p:spPr>
          <a:xfrm>
            <a:off x="7573971" y="2923282"/>
            <a:ext cx="3931941" cy="201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000"/>
              </a:spcAft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Dips at days 20, 60, 100, 140: exactly 40 days apart.</a:t>
            </a:r>
            <a:endParaRPr lang="en-US" sz="22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Mean δ = 0.00085; extra dip at day 170 does not fit pattern.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573971" y="5085159"/>
            <a:ext cx="393194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Possible causes: flare or starspot, second planet, or glitch. We keep P = 40 d; 38 d also fits within 10-day sampling.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117345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B8BCDD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FROM DEPTH TO SCALE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189" y="845423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Transit depth turns into planet size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1557496"/>
            <a:ext cx="1173450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The same depth does not mean the same planet size: STAC-3 is the smaller star.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189" y="2132112"/>
            <a:ext cx="3555911" cy="4268688"/>
          </a:xfrm>
          <a:prstGeom prst="rect">
            <a:avLst/>
          </a:prstGeom>
          <a:solidFill>
            <a:srgbClr val="252D63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2370237"/>
            <a:ext cx="3098722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STAC-1 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783" y="2975074"/>
            <a:ext cx="309872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96" kern="100" dirty="0">
                <a:solidFill>
                  <a:srgbClr val="F4ECD6"/>
                </a:solidFill>
                <a:latin typeface="Signika Bold" pitchFamily="34" charset="0"/>
                <a:ea typeface="Signika Bold" pitchFamily="34" charset="-122"/>
                <a:cs typeface="Signika Bold" pitchFamily="34" charset="0"/>
              </a:rPr>
              <a:t>5.98 R⊕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783" y="3772952"/>
            <a:ext cx="3098722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Rp = 696,000 × √0.0030 = 38,121 km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783" y="4664373"/>
            <a:ext cx="33273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large Neptune-size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17892" y="2132112"/>
            <a:ext cx="3555911" cy="4268688"/>
          </a:xfrm>
          <a:prstGeom prst="rect">
            <a:avLst/>
          </a:prstGeom>
          <a:solidFill>
            <a:srgbClr val="252D63"/>
          </a:solidFill>
          <a:ln/>
        </p:spPr>
      </p:sp>
      <p:sp>
        <p:nvSpPr>
          <p:cNvPr id="11" name="Text 9"/>
          <p:cNvSpPr/>
          <p:nvPr/>
        </p:nvSpPr>
        <p:spPr>
          <a:xfrm>
            <a:off x="4546486" y="2370237"/>
            <a:ext cx="3098722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STAC-2 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46486" y="2975074"/>
            <a:ext cx="309872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96" kern="100" dirty="0">
                <a:solidFill>
                  <a:srgbClr val="F4ECD6"/>
                </a:solidFill>
                <a:latin typeface="Signika Bold" pitchFamily="34" charset="0"/>
                <a:ea typeface="Signika Bold" pitchFamily="34" charset="-122"/>
                <a:cs typeface="Signika Bold" pitchFamily="34" charset="0"/>
              </a:rPr>
              <a:t>2.76 R⊕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46486" y="3772952"/>
            <a:ext cx="3098722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Rp = 556,800 × √0.0010 = 17,608 km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46486" y="4664373"/>
            <a:ext cx="33273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small Neptune-size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78595" y="2132112"/>
            <a:ext cx="3555911" cy="4268688"/>
          </a:xfrm>
          <a:prstGeom prst="rect">
            <a:avLst/>
          </a:prstGeom>
          <a:solidFill>
            <a:srgbClr val="252D63"/>
          </a:solidFill>
          <a:ln/>
        </p:spPr>
      </p:sp>
      <p:sp>
        <p:nvSpPr>
          <p:cNvPr id="16" name="Text 14"/>
          <p:cNvSpPr/>
          <p:nvPr/>
        </p:nvSpPr>
        <p:spPr>
          <a:xfrm>
            <a:off x="8407190" y="2370237"/>
            <a:ext cx="3098722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STAC-3 b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07190" y="2975074"/>
            <a:ext cx="3098722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b="1" spc="-96" kern="100" dirty="0">
                <a:solidFill>
                  <a:srgbClr val="F4ECD6"/>
                </a:solidFill>
                <a:latin typeface="Signika Bold" pitchFamily="34" charset="0"/>
                <a:ea typeface="Signika Bold" pitchFamily="34" charset="-122"/>
                <a:cs typeface="Signika Bold" pitchFamily="34" charset="0"/>
              </a:rPr>
              <a:t>1.59 R⊕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407190" y="3772952"/>
            <a:ext cx="3098722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Rp = 348,000 × √0.00085 = 10,146 km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07190" y="4664373"/>
            <a:ext cx="33273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super-Earth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9873" cy="6858000"/>
          </a:xfrm>
          <a:prstGeom prst="rect">
            <a:avLst/>
          </a:prstGeom>
          <a:solidFill>
            <a:srgbClr val="252D63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1600279"/>
            <a:ext cx="462268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F4ECD6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ORBIT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1976120"/>
            <a:ext cx="416549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Kepler’s law gives the orbit scale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3163094"/>
            <a:ext cx="4165496" cy="8279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9" y="4194274"/>
            <a:ext cx="4165496" cy="4954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189" y="4898688"/>
            <a:ext cx="462268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In solar units.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537061" y="469583"/>
            <a:ext cx="665463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B8BCDD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THREE ORBITS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7061" y="934641"/>
          <a:ext cx="6197445" cy="914400"/>
        </p:xfrm>
        <a:graphic>
          <a:graphicData uri="http://schemas.openxmlformats.org/drawingml/2006/table">
            <a:tbl>
              <a:tblPr/>
              <a:tblGrid>
                <a:gridCol w="1859214"/>
                <a:gridCol w="2169066"/>
                <a:gridCol w="2169165"/>
              </a:tblGrid>
              <a:tr h="613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Planet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a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Distance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STAC-1 b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0.0509 AU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7.62×10⁶ km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STAC-2 b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0.337 AU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5.05×10⁷ km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5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STAC-3 b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0.182 AU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2.72×10⁷ km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537061" y="3587750"/>
            <a:ext cx="619744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8BCDD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STAC-1 b is about 20× closer than Earth. All three are closer than Mercury at 0.39 AU.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1173450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B8BCDD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LIMITS OF THE DATA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189" y="845423"/>
            <a:ext cx="1127731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What our sampling misses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551781"/>
          <a:ext cx="11277318" cy="914400"/>
        </p:xfrm>
        <a:graphic>
          <a:graphicData uri="http://schemas.openxmlformats.org/drawingml/2006/table">
            <a:tbl>
              <a:tblPr/>
              <a:tblGrid>
                <a:gridCol w="3157558"/>
                <a:gridCol w="2706521"/>
                <a:gridCol w="2706521"/>
                <a:gridCol w="2706719"/>
              </a:tblGrid>
              <a:tr h="9903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Planet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Transit probability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Transit duration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Sampling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STAC-1 b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9.1%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2.9 h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Readings were 10–20 days apart, so most transits could fall between measurements.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6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STAC-2 b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1.1%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6.7 h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8215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STAC-3 b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1.3%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4ECD6"/>
                          </a:solidFill>
                          <a:latin typeface="Inclusive Sans" pitchFamily="34" charset="0"/>
                          <a:ea typeface="Inclusive Sans" pitchFamily="34" charset="-122"/>
                          <a:cs typeface="Inclusive Sans" pitchFamily="34" charset="0"/>
                        </a:rPr>
                        <a:t>3.9 h</a:t>
                      </a:r>
                      <a:endParaRPr lang="en-US" sz="2200" dirty="0">
                        <a:latin typeface="Inclusive Sans" charset="0"/>
                        <a:ea typeface="Inclusive Sans" charset="0"/>
                        <a:cs typeface="Inclusive Sans" charset="0"/>
                      </a:endParaRPr>
                    </a:p>
                  </a:txBody>
                  <a:tcPr marL="209545" marR="209545" marT="111757" marB="111757" anchor="ctr">
                    <a:lnL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3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B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189" y="5244306"/>
            <a:ext cx="11277318" cy="1075630"/>
          </a:xfrm>
          <a:prstGeom prst="roundRect">
            <a:avLst>
              <a:gd name="adj" fmla="val 1063"/>
            </a:avLst>
          </a:prstGeom>
          <a:solidFill>
            <a:srgbClr val="183A13"/>
          </a:solidFill>
          <a:ln/>
        </p:spPr>
      </p:sp>
      <p:sp>
        <p:nvSpPr>
          <p:cNvPr id="6" name="Text 3"/>
          <p:cNvSpPr/>
          <p:nvPr/>
        </p:nvSpPr>
        <p:spPr>
          <a:xfrm>
            <a:off x="736582" y="5599271"/>
            <a:ext cx="1132811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clusive Sans Bold" pitchFamily="34" charset="0"/>
                <a:ea typeface="Inclusive Sans Bold" pitchFamily="34" charset="-122"/>
                <a:cs typeface="Inclusive Sans Bold" pitchFamily="34" charset="0"/>
              </a:rPr>
              <a:t>Next step: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 continuous photometry to confirm 40 vs 38 days and explain day 170.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72642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B8BCDD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FOLLOW-UP PRIORITY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189" y="845423"/>
            <a:ext cx="6807030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spc="-36" kern="100" dirty="0">
                <a:solidFill>
                  <a:srgbClr val="F4ECD6"/>
                </a:solidFill>
                <a:latin typeface="Signika SemiBold" pitchFamily="34" charset="0"/>
                <a:ea typeface="Signika SemiBold" pitchFamily="34" charset="-122"/>
                <a:cs typeface="Signika SemiBold" pitchFamily="34" charset="0"/>
              </a:rPr>
              <a:t>STAC-3 b is our best next target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551781"/>
            <a:ext cx="2167379" cy="4849019"/>
          </a:xfrm>
          <a:prstGeom prst="rect">
            <a:avLst/>
          </a:prstGeom>
          <a:solidFill>
            <a:srgbClr val="252D63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789906"/>
            <a:ext cx="1710191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STAC-1 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783" y="2386171"/>
            <a:ext cx="1710191" cy="263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5% of habitable-zone distance · 385× Earth flux · Teq = 1128 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76964" y="1551781"/>
            <a:ext cx="2167379" cy="4849019"/>
          </a:xfrm>
          <a:prstGeom prst="rect">
            <a:avLst/>
          </a:prstGeom>
          <a:solidFill>
            <a:srgbClr val="252D63"/>
          </a:solidFill>
          <a:ln/>
        </p:spPr>
      </p:sp>
      <p:sp>
        <p:nvSpPr>
          <p:cNvPr id="8" name="Text 6"/>
          <p:cNvSpPr/>
          <p:nvPr/>
        </p:nvSpPr>
        <p:spPr>
          <a:xfrm>
            <a:off x="3005558" y="1789906"/>
            <a:ext cx="1710191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F4ECD6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STAC-2 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005558" y="2386171"/>
            <a:ext cx="1710191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53% · 3.5× Earth flux · Teq = 349 K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96740" y="1551781"/>
            <a:ext cx="2167479" cy="4849019"/>
          </a:xfrm>
          <a:prstGeom prst="rect">
            <a:avLst/>
          </a:prstGeom>
          <a:solidFill>
            <a:srgbClr val="F4C24F"/>
          </a:solidFill>
          <a:ln/>
        </p:spPr>
      </p:sp>
      <p:sp>
        <p:nvSpPr>
          <p:cNvPr id="11" name="Text 9"/>
          <p:cNvSpPr/>
          <p:nvPr/>
        </p:nvSpPr>
        <p:spPr>
          <a:xfrm>
            <a:off x="5325334" y="1789906"/>
            <a:ext cx="171029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STAC-3 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25334" y="2386171"/>
            <a:ext cx="1710290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64% · 2.4× Earth flux · Teq = 318 K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252D6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595" y="574278"/>
            <a:ext cx="2285943" cy="2286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78595" y="3063478"/>
            <a:ext cx="3555911" cy="3220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550"/>
              </a:spcAft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Habitable-zone distances: 1.00 AU, 0.632 AU, 0.283 AU.</a:t>
            </a:r>
            <a:endParaRPr lang="en-US" sz="22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4ECD6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STAC-3 b is smallest at 1.59 Earth radii and the only one likely rocky; it would need a ~78-day orbit for its habitable zone.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7238819" cy="2971800"/>
          </a:xfrm>
          <a:prstGeom prst="rect">
            <a:avLst/>
          </a:prstGeom>
          <a:solidFill>
            <a:srgbClr val="151B3D"/>
          </a:solidFill>
          <a:ln/>
        </p:spPr>
      </p:sp>
      <p:sp>
        <p:nvSpPr>
          <p:cNvPr id="3" name="Text 1"/>
          <p:cNvSpPr/>
          <p:nvPr/>
        </p:nvSpPr>
        <p:spPr>
          <a:xfrm>
            <a:off x="1041374" y="926783"/>
            <a:ext cx="698482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36" kern="100" dirty="0">
                <a:solidFill>
                  <a:srgbClr val="B8BCDD"/>
                </a:solidFill>
                <a:latin typeface="Inclusive Sans Medium" pitchFamily="34" charset="0"/>
                <a:ea typeface="Inclusive Sans Medium" pitchFamily="34" charset="-122"/>
                <a:cs typeface="Inclusive Sans Medium" pitchFamily="34" charset="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1374" y="1339453"/>
            <a:ext cx="6375241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b="1" spc="-96" kern="100" dirty="0">
                <a:solidFill>
                  <a:srgbClr val="FFFFFF"/>
                </a:solidFill>
                <a:latin typeface="Signika Bold" pitchFamily="34" charset="0"/>
                <a:ea typeface="Signika Bold" pitchFamily="34" charset="-122"/>
                <a:cs typeface="Signika Bold" pitchFamily="34" charset="0"/>
              </a:rPr>
              <a:t>Three planets, one target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12780" y="3581400"/>
            <a:ext cx="6857828" cy="2235200"/>
          </a:xfrm>
          <a:prstGeom prst="roundRect">
            <a:avLst>
              <a:gd name="adj" fmla="val 1875"/>
            </a:avLst>
          </a:prstGeom>
          <a:solidFill>
            <a:srgbClr val="151B3D"/>
          </a:solidFill>
          <a:ln/>
        </p:spPr>
      </p:sp>
      <p:sp>
        <p:nvSpPr>
          <p:cNvPr id="6" name="Text 4"/>
          <p:cNvSpPr/>
          <p:nvPr/>
        </p:nvSpPr>
        <p:spPr>
          <a:xfrm>
            <a:off x="1142971" y="3819525"/>
            <a:ext cx="1964184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STAC-1 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2971" y="4415790"/>
            <a:ext cx="196418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hot Neptune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59552" y="3819525"/>
            <a:ext cx="1964184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STAC-2 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59552" y="4415790"/>
            <a:ext cx="196418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sub-Neptune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76133" y="3819525"/>
            <a:ext cx="1964284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clusive Sans SemiBold" pitchFamily="34" charset="0"/>
                <a:ea typeface="Inclusive Sans SemiBold" pitchFamily="34" charset="-122"/>
                <a:cs typeface="Inclusive Sans SemiBold" pitchFamily="34" charset="0"/>
              </a:rPr>
              <a:t>STAC-3 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376133" y="4415790"/>
            <a:ext cx="1964284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super-Earth and our choice for follow-up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37301" y="2413000"/>
            <a:ext cx="3809905" cy="4015383"/>
          </a:xfrm>
          <a:prstGeom prst="rect">
            <a:avLst/>
          </a:prstGeom>
          <a:solidFill>
            <a:srgbClr val="151B3D"/>
          </a:solidFill>
          <a:ln/>
        </p:spPr>
      </p:sp>
      <p:sp>
        <p:nvSpPr>
          <p:cNvPr id="13" name="Text 11"/>
          <p:cNvSpPr/>
          <p:nvPr/>
        </p:nvSpPr>
        <p:spPr>
          <a:xfrm>
            <a:off x="8165896" y="2621915"/>
            <a:ext cx="3352716" cy="2262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Use JWST transmission spectroscopy for H₂O, CO₂, CH₄; radial velocity for mass and density; continuous photometry for the mystery dip.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65896" y="5091708"/>
            <a:ext cx="33527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8BCDD"/>
                </a:solidFill>
                <a:latin typeface="Inclusive Sans" pitchFamily="34" charset="0"/>
                <a:ea typeface="Inclusive Sans" pitchFamily="34" charset="-122"/>
                <a:cs typeface="Inclusive Sans" pitchFamily="34" charset="0"/>
              </a:rPr>
              <a:t>Not habitable-zone planets yet: red-dwarf flares and possible tidal locking remain caveats.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2026-10-24T09:46:01Z</dcterms:created>
  <dcterms:modified xsi:type="dcterms:W3CDTF">2026-10-24T09:46:01Z</dcterms:modified>
</cp:coreProperties>
</file>